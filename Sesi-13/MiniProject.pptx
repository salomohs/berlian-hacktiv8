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2CA53-69A0-724A-4779-94EB33BD77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65BF1A-1A90-0451-2F0F-80F856C3F6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8F3833-5A9E-6ADF-65AD-23861BEAA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937BD-30A4-49F3-A683-828B6B95B0E3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EF7B9-67A5-457C-B330-25D718879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EDAF6E-FD1C-CC1D-A7E0-6D0989C80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69996-2033-4164-9B6F-9C6497631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405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658D6-322D-DE25-F9A7-6831D9D02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C9A16-C274-9C60-1DF2-56E6EC279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62B632-8FA0-50DB-CAC4-E9E035905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937BD-30A4-49F3-A683-828B6B95B0E3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E8ACA1-CBD9-EC37-02A1-8F995C271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F5D75-2C81-0E03-D343-D50C4599A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69996-2033-4164-9B6F-9C6497631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217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2DBF6-85F7-FEAD-605A-D78A91C35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8D1C43-E60E-D845-ACC8-379ECD274C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E7AA2-A22B-3CCC-6E68-967675334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937BD-30A4-49F3-A683-828B6B95B0E3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57FE4-37E9-9C8D-EB9C-3DB126354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405142-1B8E-CB66-7362-C64EB2DF7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69996-2033-4164-9B6F-9C6497631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019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58718-38BE-D2AD-128F-05A88DA35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12FFB-8521-00B8-97FC-9F00F2CBEC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392AFF-B79D-35DB-7ED2-C5A67DA77B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95EECA-5F16-924C-ED15-51AF3F88D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937BD-30A4-49F3-A683-828B6B95B0E3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02B7CB-43E2-9BC1-A5AA-B6377AF82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E8D9AD-A84E-3CD3-6AF5-0FDD5E60A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69996-2033-4164-9B6F-9C6497631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040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5568D-D19F-F021-70B3-173FCF234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70288E-EA73-1E20-B698-1530ECCFE1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FED8EA-7164-0153-E358-2A27A5CD14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D169A9-7E2A-F0CE-3338-44C403315D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7D8A1F-18CB-84AF-FA30-7AD597BFFD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330089-3138-1E03-8671-10CAE5B5A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937BD-30A4-49F3-A683-828B6B95B0E3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04A9FF-9CDE-2820-C487-B8FF6A363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ED5BD3-58C3-90A5-A324-FC9360235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69996-2033-4164-9B6F-9C6497631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511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383D7-3333-0D69-2B6B-53A27ADDF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806966-B2C9-EA2E-61DC-9E3C23168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937BD-30A4-49F3-A683-828B6B95B0E3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D8F257-B709-E5ED-22D8-022A2B3AA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678DFE-E069-FC61-55DA-2122D9D67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69996-2033-4164-9B6F-9C6497631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072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4EC6CF-1C88-60A9-51A5-33C6F4B74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937BD-30A4-49F3-A683-828B6B95B0E3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CEA0AC-D2AE-881F-7ECB-436A4E0FB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D3B02C-E156-DB71-B12F-B383F2547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69996-2033-4164-9B6F-9C6497631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31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3D46E-3C20-E5E1-89F8-A9F69A698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D6189-6EB9-9087-B8AD-0F63EFE8D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8B535B-A1FD-C51B-4BFB-DA7E6EA535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5F89BF-9D5E-B7BB-6C6F-E10401387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937BD-30A4-49F3-A683-828B6B95B0E3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5A0510-4404-2352-51FD-6AACCC17B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780982-A189-8F43-CCAC-02B3E9358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69996-2033-4164-9B6F-9C6497631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605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6AC92-7145-68B6-F478-E48E7C718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1E59BF-FB4E-F2B5-EA11-3EC1DC54C9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D1DBFC-82D2-53D4-7D0F-9BA88AF6FD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64D545-23BF-AB09-7EE2-3C426F5AA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937BD-30A4-49F3-A683-828B6B95B0E3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8B05E-A24C-B769-0920-5BC3B6697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3D8E51-08DF-8190-7776-694FEC9BD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69996-2033-4164-9B6F-9C6497631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47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E08E9-8A4F-EDA6-0C82-88E6918F8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74F194-6007-EF3F-C18E-68B3A8D4FC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430473-C41C-B162-BE2F-C472C411A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937BD-30A4-49F3-A683-828B6B95B0E3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3C0A8-3B7D-5FC8-2F4A-480BF3BC9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73967-B3DF-3789-3744-127EEC020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69996-2033-4164-9B6F-9C6497631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794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041316-4045-052B-2855-9FB7591C73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AAC82F-FCA8-6C19-B650-9FD39C98CD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4FA77-5C12-AA02-B034-EAF548827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937BD-30A4-49F3-A683-828B6B95B0E3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57CA84-7399-D7C0-0C2A-8F44F81AB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E2A7C-A841-3FE1-3ED5-73E8B3BC4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69996-2033-4164-9B6F-9C6497631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481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A44743-7AF3-EB77-1CD4-519CE3D59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FB24A0-D3AF-51CD-A499-96AC9BF0F6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FA7B9-4F73-39B0-BF6F-358F922B63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A937BD-30A4-49F3-A683-828B6B95B0E3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53336C-90EE-B937-7287-67CE7EAD15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38B92-1EBD-8FC8-0008-265E529EAB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769996-2033-4164-9B6F-9C6497631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350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5C412-037C-0F61-EAE8-C4EC772C4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E76C92D-71C3-A9D8-E364-A572D9B972BD}"/>
              </a:ext>
            </a:extLst>
          </p:cNvPr>
          <p:cNvSpPr txBox="1"/>
          <p:nvPr/>
        </p:nvSpPr>
        <p:spPr>
          <a:xfrm>
            <a:off x="3914280" y="217088"/>
            <a:ext cx="436343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/>
              <a:t>Background</a:t>
            </a:r>
            <a:endParaRPr lang="en-US" sz="6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19CF2F-65BC-047A-BA97-B12E0915E1EE}"/>
              </a:ext>
            </a:extLst>
          </p:cNvPr>
          <p:cNvSpPr txBox="1"/>
          <p:nvPr/>
        </p:nvSpPr>
        <p:spPr>
          <a:xfrm>
            <a:off x="2812025" y="1588907"/>
            <a:ext cx="6567948" cy="1006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1425"/>
              </a:lnSpc>
              <a:buNone/>
            </a:pPr>
            <a:r>
              <a:rPr lang="en-US" b="0" dirty="0">
                <a:effectLst/>
                <a:latin typeface="JetBrains Mono"/>
              </a:rPr>
              <a:t>Rumah salah </a:t>
            </a:r>
            <a:r>
              <a:rPr lang="en-US" b="0" dirty="0" err="1">
                <a:effectLst/>
                <a:latin typeface="JetBrains Mono"/>
              </a:rPr>
              <a:t>satu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kebutuhan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dasar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manusia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sekaligus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aset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investasi</a:t>
            </a:r>
            <a:r>
              <a:rPr lang="en-US" b="0" dirty="0">
                <a:effectLst/>
                <a:latin typeface="JetBrains Mono"/>
              </a:rPr>
              <a:t> yang </a:t>
            </a:r>
            <a:r>
              <a:rPr lang="en-US" b="0" dirty="0" err="1">
                <a:effectLst/>
                <a:latin typeface="JetBrains Mono"/>
              </a:rPr>
              <a:t>nilainya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terus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berkembang</a:t>
            </a:r>
            <a:r>
              <a:rPr lang="en-US" b="0" dirty="0">
                <a:effectLst/>
                <a:latin typeface="JetBrains Mono"/>
              </a:rPr>
              <a:t>. </a:t>
            </a:r>
            <a:r>
              <a:rPr lang="en-US" b="0" dirty="0" err="1">
                <a:effectLst/>
                <a:latin typeface="JetBrains Mono"/>
              </a:rPr>
              <a:t>Faktanya</a:t>
            </a:r>
            <a:r>
              <a:rPr lang="en-US" b="0" dirty="0">
                <a:effectLst/>
                <a:latin typeface="JetBrains Mono"/>
              </a:rPr>
              <a:t>, </a:t>
            </a:r>
            <a:r>
              <a:rPr lang="en-US" b="0" dirty="0" err="1">
                <a:effectLst/>
                <a:latin typeface="JetBrains Mono"/>
              </a:rPr>
              <a:t>harga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rumah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itu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bervariasi</a:t>
            </a:r>
            <a:r>
              <a:rPr lang="en-US" b="0" dirty="0">
                <a:effectLst/>
                <a:latin typeface="JetBrains Mono"/>
              </a:rPr>
              <a:t>. Sebagian </a:t>
            </a:r>
            <a:r>
              <a:rPr lang="en-US" b="0" dirty="0" err="1">
                <a:effectLst/>
                <a:latin typeface="JetBrains Mono"/>
              </a:rPr>
              <a:t>rumah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berada</a:t>
            </a:r>
            <a:r>
              <a:rPr lang="en-US" b="0" dirty="0">
                <a:effectLst/>
                <a:latin typeface="JetBrains Mono"/>
              </a:rPr>
              <a:t> di </a:t>
            </a:r>
            <a:r>
              <a:rPr lang="en-US" b="0" dirty="0" err="1">
                <a:effectLst/>
                <a:latin typeface="JetBrains Mono"/>
              </a:rPr>
              <a:t>bawah</a:t>
            </a:r>
            <a:r>
              <a:rPr lang="en-US" b="0" dirty="0">
                <a:effectLst/>
                <a:latin typeface="JetBrains Mono"/>
              </a:rPr>
              <a:t> rata-rata pasar, </a:t>
            </a:r>
            <a:r>
              <a:rPr lang="en-US" b="0" dirty="0" err="1">
                <a:effectLst/>
                <a:latin typeface="JetBrains Mono"/>
              </a:rPr>
              <a:t>sebagian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lainnya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melampaui</a:t>
            </a:r>
            <a:r>
              <a:rPr lang="en-US" b="0" dirty="0">
                <a:effectLst/>
                <a:latin typeface="JetBrains Mono"/>
              </a:rPr>
              <a:t> rata-rata, dan </a:t>
            </a:r>
            <a:r>
              <a:rPr lang="en-US" b="0" dirty="0" err="1">
                <a:effectLst/>
                <a:latin typeface="JetBrains Mono"/>
              </a:rPr>
              <a:t>tidak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jarang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dijumpai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properti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dengan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harga</a:t>
            </a:r>
            <a:r>
              <a:rPr lang="en-US" b="0" dirty="0">
                <a:effectLst/>
                <a:latin typeface="JetBrains Mono"/>
              </a:rPr>
              <a:t> yang </a:t>
            </a:r>
            <a:r>
              <a:rPr lang="en-US" b="0" dirty="0" err="1">
                <a:effectLst/>
                <a:latin typeface="JetBrains Mono"/>
              </a:rPr>
              <a:t>tidak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lazim</a:t>
            </a:r>
            <a:r>
              <a:rPr lang="en-US" b="0" dirty="0">
                <a:effectLst/>
                <a:latin typeface="JetBrains Mono"/>
              </a:rPr>
              <a:t>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E2DCE5-E5E8-B8DB-9594-7E23EBF7372F}"/>
              </a:ext>
            </a:extLst>
          </p:cNvPr>
          <p:cNvSpPr txBox="1"/>
          <p:nvPr/>
        </p:nvSpPr>
        <p:spPr>
          <a:xfrm>
            <a:off x="2600651" y="3429000"/>
            <a:ext cx="69906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/>
              <a:t>Problem Statement</a:t>
            </a:r>
            <a:endParaRPr lang="en-US" sz="6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486E7E-1B39-028E-5A9D-E51177BC146A}"/>
              </a:ext>
            </a:extLst>
          </p:cNvPr>
          <p:cNvSpPr txBox="1"/>
          <p:nvPr/>
        </p:nvSpPr>
        <p:spPr>
          <a:xfrm>
            <a:off x="3047999" y="4522539"/>
            <a:ext cx="6096000" cy="826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1425"/>
              </a:lnSpc>
              <a:buNone/>
            </a:pPr>
            <a:r>
              <a:rPr lang="en-US" b="0" dirty="0" err="1">
                <a:effectLst/>
                <a:latin typeface="JetBrains Mono"/>
              </a:rPr>
              <a:t>Penelitian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ini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bertujuan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untuk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1" dirty="0" err="1">
                <a:effectLst/>
                <a:latin typeface="JetBrains Mono"/>
              </a:rPr>
              <a:t>mengidentifikasi</a:t>
            </a:r>
            <a:r>
              <a:rPr lang="en-US" b="1" dirty="0">
                <a:effectLst/>
                <a:latin typeface="JetBrains Mono"/>
              </a:rPr>
              <a:t> dan </a:t>
            </a:r>
            <a:r>
              <a:rPr lang="en-US" b="1" dirty="0" err="1">
                <a:effectLst/>
                <a:latin typeface="JetBrains Mono"/>
              </a:rPr>
              <a:t>menganalisis</a:t>
            </a:r>
            <a:r>
              <a:rPr lang="en-US" b="1" dirty="0">
                <a:effectLst/>
                <a:latin typeface="JetBrains Mono"/>
              </a:rPr>
              <a:t> </a:t>
            </a:r>
            <a:r>
              <a:rPr lang="en-US" b="1" dirty="0" err="1">
                <a:effectLst/>
                <a:latin typeface="JetBrains Mono"/>
              </a:rPr>
              <a:t>variabel-variabel</a:t>
            </a:r>
            <a:r>
              <a:rPr lang="en-US" b="1" dirty="0">
                <a:effectLst/>
                <a:latin typeface="JetBrains Mono"/>
              </a:rPr>
              <a:t> </a:t>
            </a:r>
            <a:r>
              <a:rPr lang="en-US" b="0" dirty="0">
                <a:effectLst/>
                <a:latin typeface="JetBrains Mono"/>
              </a:rPr>
              <a:t>yang </a:t>
            </a:r>
            <a:r>
              <a:rPr lang="en-US" b="0" dirty="0" err="1">
                <a:effectLst/>
                <a:latin typeface="JetBrains Mono"/>
              </a:rPr>
              <a:t>secara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signifikan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membedakan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rumah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dengan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1" dirty="0" err="1">
                <a:effectLst/>
                <a:latin typeface="JetBrains Mono"/>
              </a:rPr>
              <a:t>harga</a:t>
            </a:r>
            <a:r>
              <a:rPr lang="en-US" b="1" dirty="0">
                <a:effectLst/>
                <a:latin typeface="JetBrains Mono"/>
              </a:rPr>
              <a:t> di </a:t>
            </a:r>
            <a:r>
              <a:rPr lang="en-US" b="1" dirty="0" err="1">
                <a:effectLst/>
                <a:latin typeface="JetBrains Mono"/>
              </a:rPr>
              <a:t>bawah</a:t>
            </a:r>
            <a:r>
              <a:rPr lang="en-US" b="1" dirty="0">
                <a:effectLst/>
                <a:latin typeface="JetBrains Mono"/>
              </a:rPr>
              <a:t> rata-rata</a:t>
            </a:r>
            <a:r>
              <a:rPr lang="en-US" b="0" dirty="0">
                <a:effectLst/>
                <a:latin typeface="JetBrains Mono"/>
              </a:rPr>
              <a:t>, </a:t>
            </a:r>
            <a:r>
              <a:rPr lang="en-US" b="1" dirty="0">
                <a:effectLst/>
                <a:latin typeface="JetBrains Mono"/>
              </a:rPr>
              <a:t>di </a:t>
            </a:r>
            <a:r>
              <a:rPr lang="en-US" b="1" dirty="0" err="1">
                <a:effectLst/>
                <a:latin typeface="JetBrains Mono"/>
              </a:rPr>
              <a:t>atas</a:t>
            </a:r>
            <a:r>
              <a:rPr lang="en-US" b="1" dirty="0">
                <a:effectLst/>
                <a:latin typeface="JetBrains Mono"/>
              </a:rPr>
              <a:t> rata-rata, </a:t>
            </a:r>
            <a:r>
              <a:rPr lang="en-US" b="1" dirty="0" err="1">
                <a:effectLst/>
                <a:latin typeface="JetBrains Mono"/>
              </a:rPr>
              <a:t>serta</a:t>
            </a:r>
            <a:r>
              <a:rPr lang="en-US" b="1" dirty="0">
                <a:effectLst/>
                <a:latin typeface="JetBrains Mono"/>
              </a:rPr>
              <a:t> </a:t>
            </a:r>
            <a:r>
              <a:rPr lang="en-US" b="1" dirty="0" err="1">
                <a:effectLst/>
                <a:latin typeface="JetBrains Mono"/>
              </a:rPr>
              <a:t>rumah</a:t>
            </a:r>
            <a:r>
              <a:rPr lang="en-US" b="1" dirty="0">
                <a:effectLst/>
                <a:latin typeface="JetBrains Mono"/>
              </a:rPr>
              <a:t> yang </a:t>
            </a:r>
            <a:r>
              <a:rPr lang="en-US" b="1" dirty="0" err="1">
                <a:effectLst/>
                <a:latin typeface="JetBrains Mono"/>
              </a:rPr>
              <a:t>tergolong</a:t>
            </a:r>
            <a:r>
              <a:rPr lang="en-US" b="1" dirty="0">
                <a:effectLst/>
                <a:latin typeface="JetBrains Mono"/>
              </a:rPr>
              <a:t> </a:t>
            </a:r>
            <a:r>
              <a:rPr lang="en-US" b="1" dirty="0" err="1">
                <a:effectLst/>
                <a:latin typeface="JetBrains Mono"/>
              </a:rPr>
              <a:t>anomali</a:t>
            </a:r>
            <a:r>
              <a:rPr lang="en-US" b="1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dalam</a:t>
            </a:r>
            <a:r>
              <a:rPr lang="en-US" b="0" dirty="0">
                <a:effectLst/>
                <a:latin typeface="JetBrains Mono"/>
              </a:rPr>
              <a:t> dataset.</a:t>
            </a:r>
          </a:p>
        </p:txBody>
      </p:sp>
    </p:spTree>
    <p:extLst>
      <p:ext uri="{BB962C8B-B14F-4D97-AF65-F5344CB8AC3E}">
        <p14:creationId xmlns:p14="http://schemas.microsoft.com/office/powerpoint/2010/main" val="2161773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15F82-A936-2C0D-3379-BCACCEB84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7FB9BF3-4F4A-A487-7522-C9861E5AAECE}"/>
              </a:ext>
            </a:extLst>
          </p:cNvPr>
          <p:cNvSpPr txBox="1"/>
          <p:nvPr/>
        </p:nvSpPr>
        <p:spPr>
          <a:xfrm>
            <a:off x="609079" y="272648"/>
            <a:ext cx="663444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/>
              <a:t>Data Specification</a:t>
            </a:r>
            <a:endParaRPr lang="en-US" sz="6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CA1654-BF4F-AE0A-4252-D8540B175C1A}"/>
              </a:ext>
            </a:extLst>
          </p:cNvPr>
          <p:cNvSpPr txBox="1"/>
          <p:nvPr/>
        </p:nvSpPr>
        <p:spPr>
          <a:xfrm>
            <a:off x="752113" y="1488423"/>
            <a:ext cx="6567948" cy="1006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1425"/>
              </a:lnSpc>
            </a:pPr>
            <a:r>
              <a:rPr lang="en-US" b="0" dirty="0">
                <a:effectLst/>
                <a:latin typeface="JetBrains Mono"/>
              </a:rPr>
              <a:t>-    Rows: 554</a:t>
            </a:r>
          </a:p>
          <a:p>
            <a:pPr marL="285750" indent="-285750" algn="just">
              <a:lnSpc>
                <a:spcPts val="1425"/>
              </a:lnSpc>
              <a:buFontTx/>
              <a:buChar char="-"/>
            </a:pPr>
            <a:r>
              <a:rPr lang="en-US" dirty="0">
                <a:latin typeface="JetBrains Mono"/>
              </a:rPr>
              <a:t>Columns: 13</a:t>
            </a:r>
          </a:p>
          <a:p>
            <a:pPr marL="285750" indent="-285750" algn="just">
              <a:lnSpc>
                <a:spcPts val="1425"/>
              </a:lnSpc>
              <a:buFontTx/>
              <a:buChar char="-"/>
            </a:pPr>
            <a:r>
              <a:rPr lang="en-US" b="0" dirty="0">
                <a:effectLst/>
                <a:latin typeface="JetBrains Mono"/>
              </a:rPr>
              <a:t>Null Values: -</a:t>
            </a:r>
          </a:p>
          <a:p>
            <a:pPr marL="285750" indent="-285750" algn="just">
              <a:lnSpc>
                <a:spcPts val="1425"/>
              </a:lnSpc>
              <a:buFontTx/>
              <a:buChar char="-"/>
            </a:pPr>
            <a:r>
              <a:rPr lang="en-US" dirty="0">
                <a:latin typeface="JetBrains Mono"/>
              </a:rPr>
              <a:t>Duplicate Values: -</a:t>
            </a:r>
          </a:p>
          <a:p>
            <a:pPr marL="285750" indent="-285750" algn="just">
              <a:lnSpc>
                <a:spcPts val="1425"/>
              </a:lnSpc>
              <a:buFontTx/>
              <a:buChar char="-"/>
            </a:pPr>
            <a:r>
              <a:rPr lang="en-US" b="0" dirty="0">
                <a:effectLst/>
                <a:latin typeface="JetBrains Mono"/>
              </a:rPr>
              <a:t>Data type: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0ABFFA-5DFC-DB72-F9D0-A8891EF8E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684" y="2694580"/>
            <a:ext cx="4419705" cy="362756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8694392-722C-6C97-9C0C-4B7444B33C70}"/>
              </a:ext>
            </a:extLst>
          </p:cNvPr>
          <p:cNvSpPr txBox="1"/>
          <p:nvPr/>
        </p:nvSpPr>
        <p:spPr>
          <a:xfrm>
            <a:off x="5609182" y="2770949"/>
            <a:ext cx="564418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- Jika </a:t>
            </a:r>
            <a:r>
              <a:rPr lang="en-US" dirty="0" err="1"/>
              <a:t>dilihat</a:t>
            </a:r>
            <a:r>
              <a:rPr lang="en-US" dirty="0"/>
              <a:t> pada summary </a:t>
            </a:r>
            <a:r>
              <a:rPr lang="en-US" dirty="0" err="1"/>
              <a:t>statistik</a:t>
            </a:r>
            <a:r>
              <a:rPr lang="en-US" dirty="0"/>
              <a:t>, </a:t>
            </a:r>
            <a:r>
              <a:rPr lang="en-US" dirty="0" err="1"/>
              <a:t>diduga</a:t>
            </a:r>
            <a:r>
              <a:rPr lang="en-US" dirty="0"/>
              <a:t> </a:t>
            </a:r>
            <a:r>
              <a:rPr lang="en-US" dirty="0" err="1"/>
              <a:t>kolom</a:t>
            </a:r>
            <a:r>
              <a:rPr lang="en-US" dirty="0"/>
              <a:t> price, area, bathrooms, stories, and parking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distribusi</a:t>
            </a:r>
            <a:r>
              <a:rPr lang="en-US" dirty="0"/>
              <a:t> yang </a:t>
            </a:r>
            <a:r>
              <a:rPr lang="en-US" dirty="0" err="1"/>
              <a:t>tidak</a:t>
            </a:r>
            <a:r>
              <a:rPr lang="en-US" dirty="0"/>
              <a:t> normal. </a:t>
            </a:r>
            <a:r>
              <a:rPr lang="en-US" dirty="0" err="1"/>
              <a:t>Dikarenakan</a:t>
            </a:r>
            <a:r>
              <a:rPr lang="en-US" dirty="0"/>
              <a:t> mean dan median punya </a:t>
            </a:r>
            <a:r>
              <a:rPr lang="en-US" dirty="0" err="1"/>
              <a:t>selisih</a:t>
            </a:r>
            <a:r>
              <a:rPr lang="en-US" dirty="0"/>
              <a:t>.</a:t>
            </a:r>
          </a:p>
          <a:p>
            <a:r>
              <a:rPr lang="en-US" dirty="0"/>
              <a:t>- Kolom bedroom </a:t>
            </a:r>
            <a:r>
              <a:rPr lang="en-US" dirty="0" err="1"/>
              <a:t>mendekati</a:t>
            </a:r>
            <a:r>
              <a:rPr lang="en-US" dirty="0"/>
              <a:t> </a:t>
            </a:r>
            <a:r>
              <a:rPr lang="en-US" dirty="0" err="1"/>
              <a:t>distribusi</a:t>
            </a:r>
            <a:r>
              <a:rPr lang="en-US" dirty="0"/>
              <a:t> normal.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4CFB78D-4D49-2058-9AAC-9DFC2F693A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8749" y="1424113"/>
            <a:ext cx="6371303" cy="1125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47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8C426-E1D3-3779-2946-9F6CBFF3F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9BBCE9-0318-B363-E39D-382028AFC66F}"/>
              </a:ext>
            </a:extLst>
          </p:cNvPr>
          <p:cNvSpPr txBox="1"/>
          <p:nvPr/>
        </p:nvSpPr>
        <p:spPr>
          <a:xfrm>
            <a:off x="609079" y="272648"/>
            <a:ext cx="598958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/>
              <a:t>Data Exploration</a:t>
            </a:r>
            <a:endParaRPr lang="en-US" sz="6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3B5B39-1E08-8496-A097-5BD940401B09}"/>
              </a:ext>
            </a:extLst>
          </p:cNvPr>
          <p:cNvSpPr txBox="1"/>
          <p:nvPr/>
        </p:nvSpPr>
        <p:spPr>
          <a:xfrm>
            <a:off x="7222603" y="1614219"/>
            <a:ext cx="414348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- Kolom price, area, bathrooms, stories, and parking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distribusi</a:t>
            </a:r>
            <a:r>
              <a:rPr lang="en-US" dirty="0"/>
              <a:t> right skewness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BB7391F-F284-DE0D-584F-F50240634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439" y="1446962"/>
            <a:ext cx="6567948" cy="4359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895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65994-0DD4-0798-3E65-5EFD6FF99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16E4FFC-4C4B-E5A0-BCC1-D7780390C8A4}"/>
              </a:ext>
            </a:extLst>
          </p:cNvPr>
          <p:cNvSpPr txBox="1"/>
          <p:nvPr/>
        </p:nvSpPr>
        <p:spPr>
          <a:xfrm>
            <a:off x="609079" y="272648"/>
            <a:ext cx="598958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/>
              <a:t>Data Exploration</a:t>
            </a:r>
            <a:endParaRPr lang="en-US" sz="6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07A25D-A280-D998-4572-1F9CF57E21D9}"/>
              </a:ext>
            </a:extLst>
          </p:cNvPr>
          <p:cNvSpPr txBox="1"/>
          <p:nvPr/>
        </p:nvSpPr>
        <p:spPr>
          <a:xfrm>
            <a:off x="7222603" y="1830529"/>
            <a:ext cx="41434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Semua</a:t>
            </a:r>
            <a:r>
              <a:rPr lang="en-US" dirty="0"/>
              <a:t> data numerical </a:t>
            </a:r>
            <a:r>
              <a:rPr lang="en-US" dirty="0" err="1"/>
              <a:t>memiliki</a:t>
            </a:r>
            <a:r>
              <a:rPr lang="en-US" dirty="0"/>
              <a:t> outliers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5ED0E2-6CA7-86CE-7E5D-AF55264857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24" y="1614219"/>
            <a:ext cx="6619549" cy="4401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351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6A3A6-A702-2858-74E2-E4FD00D7D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9CB381-C69A-3BA2-BC89-AD1C614AD97A}"/>
              </a:ext>
            </a:extLst>
          </p:cNvPr>
          <p:cNvSpPr txBox="1"/>
          <p:nvPr/>
        </p:nvSpPr>
        <p:spPr>
          <a:xfrm>
            <a:off x="609079" y="272648"/>
            <a:ext cx="598958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/>
              <a:t>Data Exploration</a:t>
            </a:r>
            <a:endParaRPr lang="en-US" sz="6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8CD923-966E-6F81-47D5-7301D8C45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291" y="1366836"/>
            <a:ext cx="4409638" cy="34465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67DD523-15DF-ABC6-C692-5F1DB104A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6105" y="1366836"/>
            <a:ext cx="4513113" cy="344652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7582B30-0850-C5A3-C77F-1A9E9146A411}"/>
              </a:ext>
            </a:extLst>
          </p:cNvPr>
          <p:cNvSpPr txBox="1"/>
          <p:nvPr/>
        </p:nvSpPr>
        <p:spPr>
          <a:xfrm>
            <a:off x="437665" y="4813358"/>
            <a:ext cx="4999574" cy="1903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1425"/>
              </a:lnSpc>
              <a:buNone/>
            </a:pPr>
            <a:r>
              <a:rPr lang="en-US" b="0" dirty="0">
                <a:effectLst/>
                <a:latin typeface="JetBrains Mono"/>
              </a:rPr>
              <a:t>Below Average:</a:t>
            </a:r>
          </a:p>
          <a:p>
            <a:pPr algn="just">
              <a:lnSpc>
                <a:spcPts val="1425"/>
              </a:lnSpc>
              <a:buNone/>
            </a:pPr>
            <a:r>
              <a:rPr lang="en-US" b="0" dirty="0">
                <a:effectLst/>
                <a:latin typeface="JetBrains Mono"/>
              </a:rPr>
              <a:t>- Ada </a:t>
            </a:r>
            <a:r>
              <a:rPr lang="en-US" b="0" dirty="0" err="1">
                <a:effectLst/>
                <a:latin typeface="JetBrains Mono"/>
              </a:rPr>
              <a:t>rumah</a:t>
            </a:r>
            <a:r>
              <a:rPr lang="en-US" b="0" dirty="0">
                <a:effectLst/>
                <a:latin typeface="JetBrains Mono"/>
              </a:rPr>
              <a:t> yang </a:t>
            </a:r>
            <a:r>
              <a:rPr lang="en-US" b="0" dirty="0" err="1">
                <a:effectLst/>
                <a:latin typeface="JetBrains Mono"/>
              </a:rPr>
              <a:t>memiliki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satu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kamar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tidur</a:t>
            </a:r>
            <a:r>
              <a:rPr lang="en-US" b="0" dirty="0">
                <a:effectLst/>
                <a:latin typeface="JetBrains Mono"/>
              </a:rPr>
              <a:t> </a:t>
            </a:r>
            <a:br>
              <a:rPr lang="en-US" b="0" dirty="0">
                <a:effectLst/>
                <a:latin typeface="JetBrains Mono"/>
              </a:rPr>
            </a:br>
            <a:endParaRPr lang="en-US" b="0" dirty="0">
              <a:effectLst/>
              <a:latin typeface="JetBrains Mono"/>
            </a:endParaRPr>
          </a:p>
          <a:p>
            <a:pPr algn="just">
              <a:lnSpc>
                <a:spcPts val="1425"/>
              </a:lnSpc>
              <a:buNone/>
            </a:pPr>
            <a:r>
              <a:rPr lang="en-US" b="0" dirty="0">
                <a:effectLst/>
                <a:latin typeface="JetBrains Mono"/>
              </a:rPr>
              <a:t>Above Average:</a:t>
            </a:r>
          </a:p>
          <a:p>
            <a:pPr algn="just">
              <a:lnSpc>
                <a:spcPts val="1425"/>
              </a:lnSpc>
              <a:buNone/>
            </a:pPr>
            <a:r>
              <a:rPr lang="en-US" b="0" dirty="0">
                <a:effectLst/>
                <a:latin typeface="JetBrains Mono"/>
              </a:rPr>
              <a:t>- Minimum </a:t>
            </a:r>
            <a:r>
              <a:rPr lang="en-US" b="0" dirty="0" err="1">
                <a:effectLst/>
                <a:latin typeface="JetBrains Mono"/>
              </a:rPr>
              <a:t>kamar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tidur</a:t>
            </a:r>
            <a:r>
              <a:rPr lang="en-US" b="0" dirty="0">
                <a:effectLst/>
                <a:latin typeface="JetBrains Mono"/>
              </a:rPr>
              <a:t> yang </a:t>
            </a:r>
            <a:r>
              <a:rPr lang="en-US" b="0" dirty="0" err="1">
                <a:effectLst/>
                <a:latin typeface="JetBrains Mono"/>
              </a:rPr>
              <a:t>dimiliki</a:t>
            </a:r>
            <a:r>
              <a:rPr lang="en-US" b="0" dirty="0">
                <a:effectLst/>
                <a:latin typeface="JetBrains Mono"/>
              </a:rPr>
              <a:t> oleh </a:t>
            </a:r>
            <a:r>
              <a:rPr lang="en-US" b="0" dirty="0" err="1">
                <a:effectLst/>
                <a:latin typeface="JetBrains Mono"/>
              </a:rPr>
              <a:t>rumah</a:t>
            </a:r>
            <a:r>
              <a:rPr lang="en-US" b="0" dirty="0">
                <a:effectLst/>
                <a:latin typeface="JetBrains Mono"/>
              </a:rPr>
              <a:t> yang </a:t>
            </a:r>
            <a:r>
              <a:rPr lang="en-US" b="0" dirty="0" err="1">
                <a:effectLst/>
                <a:latin typeface="JetBrains Mono"/>
              </a:rPr>
              <a:t>diatas</a:t>
            </a:r>
            <a:r>
              <a:rPr lang="en-US" b="0" dirty="0">
                <a:effectLst/>
                <a:latin typeface="JetBrains Mono"/>
              </a:rPr>
              <a:t> rata </a:t>
            </a:r>
            <a:r>
              <a:rPr lang="en-US" b="0" dirty="0" err="1">
                <a:effectLst/>
                <a:latin typeface="JetBrains Mono"/>
              </a:rPr>
              <a:t>rata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adalah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sejumlah</a:t>
            </a:r>
            <a:r>
              <a:rPr lang="en-US" b="0" dirty="0">
                <a:effectLst/>
                <a:latin typeface="JetBrains Mono"/>
              </a:rPr>
              <a:t> 2 </a:t>
            </a:r>
            <a:r>
              <a:rPr lang="en-US" b="0" dirty="0" err="1">
                <a:effectLst/>
                <a:latin typeface="JetBrains Mono"/>
              </a:rPr>
              <a:t>kamar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tidur</a:t>
            </a:r>
            <a:endParaRPr lang="en-US" b="0" dirty="0">
              <a:effectLst/>
              <a:latin typeface="JetBrains Mono"/>
            </a:endParaRPr>
          </a:p>
          <a:p>
            <a:pPr algn="just">
              <a:lnSpc>
                <a:spcPts val="1425"/>
              </a:lnSpc>
              <a:buNone/>
            </a:pPr>
            <a:endParaRPr lang="en-US" b="0" dirty="0">
              <a:effectLst/>
              <a:latin typeface="JetBrains Mono"/>
            </a:endParaRPr>
          </a:p>
          <a:p>
            <a:pPr algn="just">
              <a:lnSpc>
                <a:spcPts val="1425"/>
              </a:lnSpc>
              <a:buNone/>
            </a:pPr>
            <a:r>
              <a:rPr lang="en-US" b="0" dirty="0">
                <a:effectLst/>
                <a:latin typeface="JetBrains Mono"/>
              </a:rPr>
              <a:t>Outliers:</a:t>
            </a:r>
          </a:p>
          <a:p>
            <a:pPr algn="just">
              <a:lnSpc>
                <a:spcPts val="1425"/>
              </a:lnSpc>
              <a:buNone/>
            </a:pPr>
            <a:r>
              <a:rPr lang="en-US" b="0" dirty="0">
                <a:effectLst/>
                <a:latin typeface="JetBrains Mono"/>
              </a:rPr>
              <a:t>- Rumah pada </a:t>
            </a:r>
            <a:r>
              <a:rPr lang="en-US" b="0" dirty="0" err="1">
                <a:effectLst/>
                <a:latin typeface="JetBrains Mono"/>
              </a:rPr>
              <a:t>kelompk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harga</a:t>
            </a:r>
            <a:r>
              <a:rPr lang="en-US" b="0" dirty="0">
                <a:effectLst/>
                <a:latin typeface="JetBrains Mono"/>
              </a:rPr>
              <a:t> outlier, </a:t>
            </a:r>
            <a:r>
              <a:rPr lang="en-US" b="0" dirty="0" err="1">
                <a:effectLst/>
                <a:latin typeface="JetBrains Mono"/>
              </a:rPr>
              <a:t>sudah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pasti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memiliki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lebih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dari</a:t>
            </a:r>
            <a:r>
              <a:rPr lang="en-US" b="0" dirty="0">
                <a:effectLst/>
                <a:latin typeface="JetBrains Mono"/>
              </a:rPr>
              <a:t> 2 </a:t>
            </a:r>
            <a:r>
              <a:rPr lang="en-US" b="0" dirty="0" err="1">
                <a:effectLst/>
                <a:latin typeface="JetBrains Mono"/>
              </a:rPr>
              <a:t>kamar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tidur</a:t>
            </a:r>
            <a:endParaRPr lang="en-US" b="0" dirty="0">
              <a:effectLst/>
              <a:latin typeface="JetBrains Mono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831B92-9F26-A2D4-CB48-EA51369EFF86}"/>
              </a:ext>
            </a:extLst>
          </p:cNvPr>
          <p:cNvSpPr txBox="1"/>
          <p:nvPr/>
        </p:nvSpPr>
        <p:spPr>
          <a:xfrm>
            <a:off x="6754763" y="4898373"/>
            <a:ext cx="4616246" cy="1185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1425"/>
              </a:lnSpc>
              <a:buNone/>
            </a:pPr>
            <a:r>
              <a:rPr lang="en-US" b="0" dirty="0">
                <a:effectLst/>
                <a:latin typeface="JetBrains Mono"/>
              </a:rPr>
              <a:t>- Rumah </a:t>
            </a:r>
            <a:r>
              <a:rPr lang="en-US" b="0" dirty="0" err="1">
                <a:effectLst/>
                <a:latin typeface="JetBrains Mono"/>
              </a:rPr>
              <a:t>dengan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kategori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harga</a:t>
            </a:r>
            <a:r>
              <a:rPr lang="en-US" b="0" dirty="0">
                <a:effectLst/>
                <a:latin typeface="JetBrains Mono"/>
              </a:rPr>
              <a:t> outlier </a:t>
            </a:r>
            <a:r>
              <a:rPr lang="en-US" b="0" dirty="0" err="1">
                <a:effectLst/>
                <a:latin typeface="JetBrains Mono"/>
              </a:rPr>
              <a:t>dapat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memiliki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jumlah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kamar</a:t>
            </a:r>
            <a:r>
              <a:rPr lang="en-US" b="0" dirty="0">
                <a:effectLst/>
                <a:latin typeface="JetBrains Mono"/>
              </a:rPr>
              <a:t> mandi </a:t>
            </a:r>
            <a:r>
              <a:rPr lang="en-US" b="0" dirty="0" err="1">
                <a:effectLst/>
                <a:latin typeface="JetBrains Mono"/>
              </a:rPr>
              <a:t>sebanyak</a:t>
            </a:r>
            <a:r>
              <a:rPr lang="en-US" b="0" dirty="0">
                <a:effectLst/>
                <a:latin typeface="JetBrains Mono"/>
              </a:rPr>
              <a:t> 4. </a:t>
            </a:r>
            <a:r>
              <a:rPr lang="en-US" b="0" dirty="0" err="1">
                <a:effectLst/>
                <a:latin typeface="JetBrains Mono"/>
              </a:rPr>
              <a:t>dimana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nilai</a:t>
            </a:r>
            <a:r>
              <a:rPr lang="en-US" b="0" dirty="0">
                <a:effectLst/>
                <a:latin typeface="JetBrains Mono"/>
              </a:rPr>
              <a:t> paling </a:t>
            </a:r>
            <a:r>
              <a:rPr lang="en-US" b="0" dirty="0" err="1">
                <a:effectLst/>
                <a:latin typeface="JetBrains Mono"/>
              </a:rPr>
              <a:t>tinggi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diantara</a:t>
            </a:r>
            <a:r>
              <a:rPr lang="en-US" b="0" dirty="0">
                <a:effectLst/>
                <a:latin typeface="JetBrains Mono"/>
              </a:rPr>
              <a:t> above average dan below average.</a:t>
            </a:r>
          </a:p>
          <a:p>
            <a:pPr algn="just">
              <a:lnSpc>
                <a:spcPts val="1425"/>
              </a:lnSpc>
              <a:buNone/>
            </a:pPr>
            <a:r>
              <a:rPr lang="en-US" b="0" dirty="0">
                <a:effectLst/>
                <a:latin typeface="JetBrains Mono"/>
              </a:rPr>
              <a:t>- Selain </a:t>
            </a:r>
            <a:r>
              <a:rPr lang="en-US" b="0" dirty="0" err="1">
                <a:effectLst/>
                <a:latin typeface="JetBrains Mono"/>
              </a:rPr>
              <a:t>itu</a:t>
            </a:r>
            <a:r>
              <a:rPr lang="en-US" b="0" dirty="0">
                <a:effectLst/>
                <a:latin typeface="JetBrains Mono"/>
              </a:rPr>
              <a:t>, </a:t>
            </a:r>
            <a:r>
              <a:rPr lang="en-US" b="0" dirty="0" err="1">
                <a:effectLst/>
                <a:latin typeface="JetBrains Mono"/>
              </a:rPr>
              <a:t>mayoritas</a:t>
            </a:r>
            <a:r>
              <a:rPr lang="en-US" b="0" dirty="0">
                <a:effectLst/>
                <a:latin typeface="JetBrains Mono"/>
              </a:rPr>
              <a:t> below average </a:t>
            </a:r>
            <a:r>
              <a:rPr lang="en-US" b="0" dirty="0" err="1">
                <a:effectLst/>
                <a:latin typeface="JetBrains Mono"/>
              </a:rPr>
              <a:t>hanya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memiliki</a:t>
            </a:r>
            <a:r>
              <a:rPr lang="en-US" b="0" dirty="0">
                <a:effectLst/>
                <a:latin typeface="JetBrains Mono"/>
              </a:rPr>
              <a:t> 1 </a:t>
            </a:r>
            <a:r>
              <a:rPr lang="en-US" b="0" dirty="0" err="1">
                <a:effectLst/>
                <a:latin typeface="JetBrains Mono"/>
              </a:rPr>
              <a:t>kamar</a:t>
            </a:r>
            <a:r>
              <a:rPr lang="en-US" b="0" dirty="0">
                <a:effectLst/>
                <a:latin typeface="JetBrains Mono"/>
              </a:rPr>
              <a:t> mandi</a:t>
            </a:r>
          </a:p>
        </p:txBody>
      </p:sp>
    </p:spTree>
    <p:extLst>
      <p:ext uri="{BB962C8B-B14F-4D97-AF65-F5344CB8AC3E}">
        <p14:creationId xmlns:p14="http://schemas.microsoft.com/office/powerpoint/2010/main" val="3651334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544EC-F728-891B-A41C-6F0DBBB7E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536B49-3769-AA8B-6726-9915D04A439A}"/>
              </a:ext>
            </a:extLst>
          </p:cNvPr>
          <p:cNvSpPr txBox="1"/>
          <p:nvPr/>
        </p:nvSpPr>
        <p:spPr>
          <a:xfrm>
            <a:off x="609079" y="272648"/>
            <a:ext cx="598958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/>
              <a:t>Data Exploration</a:t>
            </a:r>
            <a:endParaRPr lang="en-US" sz="6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CDCB64-C586-9597-5B55-E1A1AA046EAB}"/>
              </a:ext>
            </a:extLst>
          </p:cNvPr>
          <p:cNvSpPr txBox="1"/>
          <p:nvPr/>
        </p:nvSpPr>
        <p:spPr>
          <a:xfrm>
            <a:off x="4390719" y="4143071"/>
            <a:ext cx="312604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Rumah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kategori</a:t>
            </a:r>
            <a:r>
              <a:rPr lang="en-US" dirty="0"/>
              <a:t> </a:t>
            </a:r>
            <a:r>
              <a:rPr lang="en-US" dirty="0" err="1"/>
              <a:t>harga</a:t>
            </a:r>
            <a:r>
              <a:rPr lang="en-US" dirty="0"/>
              <a:t> outlier </a:t>
            </a:r>
            <a:r>
              <a:rPr lang="en-US" dirty="0" err="1"/>
              <a:t>selalu</a:t>
            </a:r>
            <a:r>
              <a:rPr lang="en-US" dirty="0"/>
              <a:t> </a:t>
            </a:r>
            <a:r>
              <a:rPr lang="en-US" dirty="0" err="1"/>
              <a:t>terhubung</a:t>
            </a:r>
            <a:r>
              <a:rPr lang="en-US" dirty="0"/>
              <a:t> oleh </a:t>
            </a:r>
            <a:r>
              <a:rPr lang="en-US" dirty="0" err="1"/>
              <a:t>jalan</a:t>
            </a:r>
            <a:r>
              <a:rPr lang="en-US" dirty="0"/>
              <a:t> </a:t>
            </a:r>
            <a:r>
              <a:rPr lang="en-US" dirty="0" err="1"/>
              <a:t>protokol</a:t>
            </a:r>
            <a:r>
              <a:rPr lang="en-US" dirty="0"/>
              <a:t>/</a:t>
            </a:r>
            <a:r>
              <a:rPr lang="en-US" dirty="0" err="1"/>
              <a:t>mainroad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36FDCA-7A93-8097-BBC0-081E2E137E95}"/>
              </a:ext>
            </a:extLst>
          </p:cNvPr>
          <p:cNvSpPr txBox="1"/>
          <p:nvPr/>
        </p:nvSpPr>
        <p:spPr>
          <a:xfrm>
            <a:off x="7801282" y="4074694"/>
            <a:ext cx="395305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- </a:t>
            </a:r>
            <a:r>
              <a:rPr lang="en-US" dirty="0" err="1"/>
              <a:t>Distribusi</a:t>
            </a:r>
            <a:r>
              <a:rPr lang="en-US" dirty="0"/>
              <a:t> </a:t>
            </a:r>
            <a:r>
              <a:rPr lang="en-US" dirty="0" err="1"/>
              <a:t>rumah</a:t>
            </a:r>
            <a:r>
              <a:rPr lang="en-US" dirty="0"/>
              <a:t> </a:t>
            </a:r>
            <a:r>
              <a:rPr lang="en-US" dirty="0" err="1"/>
              <a:t>mayoritas</a:t>
            </a:r>
            <a:r>
              <a:rPr lang="en-US" dirty="0"/>
              <a:t> </a:t>
            </a:r>
            <a:r>
              <a:rPr lang="en-US" dirty="0" err="1"/>
              <a:t>bukan</a:t>
            </a:r>
            <a:r>
              <a:rPr lang="en-US" dirty="0"/>
              <a:t> di </a:t>
            </a:r>
            <a:r>
              <a:rPr lang="en-US" dirty="0" err="1"/>
              <a:t>preffered</a:t>
            </a:r>
            <a:r>
              <a:rPr lang="en-US" dirty="0"/>
              <a:t> area</a:t>
            </a:r>
          </a:p>
          <a:p>
            <a:r>
              <a:rPr lang="en-US" dirty="0"/>
              <a:t>- Pada </a:t>
            </a:r>
            <a:r>
              <a:rPr lang="en-US" dirty="0" err="1"/>
              <a:t>rumah</a:t>
            </a:r>
            <a:r>
              <a:rPr lang="en-US" dirty="0"/>
              <a:t> yang </a:t>
            </a:r>
            <a:r>
              <a:rPr lang="en-US" dirty="0" err="1"/>
              <a:t>berlokasi</a:t>
            </a:r>
            <a:r>
              <a:rPr lang="en-US" dirty="0"/>
              <a:t> di </a:t>
            </a:r>
            <a:r>
              <a:rPr lang="en-US" dirty="0" err="1"/>
              <a:t>prefered</a:t>
            </a:r>
            <a:r>
              <a:rPr lang="en-US" dirty="0"/>
              <a:t> area, di </a:t>
            </a:r>
            <a:r>
              <a:rPr lang="en-US" dirty="0" err="1"/>
              <a:t>dominasi</a:t>
            </a:r>
            <a:r>
              <a:rPr lang="en-US" dirty="0"/>
              <a:t> oleh </a:t>
            </a:r>
            <a:r>
              <a:rPr lang="en-US" dirty="0" err="1"/>
              <a:t>rumah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kategori</a:t>
            </a:r>
            <a:r>
              <a:rPr lang="en-US" dirty="0"/>
              <a:t> </a:t>
            </a:r>
            <a:r>
              <a:rPr lang="en-US" dirty="0" err="1"/>
              <a:t>harga</a:t>
            </a:r>
            <a:r>
              <a:rPr lang="en-US" dirty="0"/>
              <a:t> above average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1D3DB3-D00A-7302-0101-44E536A449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79" y="1475675"/>
            <a:ext cx="3126044" cy="24415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FB7F3A-255A-A41A-1D7B-913F3B833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5180" y="1524086"/>
            <a:ext cx="3126045" cy="248003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433B0D3-1F72-94AA-4E50-18DCD8B0CE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1282" y="1475675"/>
            <a:ext cx="3126045" cy="248003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A267015-B1BD-D274-706E-0A4AB3114555}"/>
              </a:ext>
            </a:extLst>
          </p:cNvPr>
          <p:cNvSpPr txBox="1"/>
          <p:nvPr/>
        </p:nvSpPr>
        <p:spPr>
          <a:xfrm>
            <a:off x="609079" y="4239893"/>
            <a:ext cx="3264831" cy="826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effectLst/>
                <a:latin typeface="JetBrains Mono"/>
              </a:rPr>
              <a:t>- Outliers </a:t>
            </a:r>
            <a:r>
              <a:rPr lang="en-US" b="0" dirty="0" err="1">
                <a:effectLst/>
                <a:latin typeface="JetBrains Mono"/>
              </a:rPr>
              <a:t>memiliki</a:t>
            </a:r>
            <a:r>
              <a:rPr lang="en-US" b="0" dirty="0">
                <a:effectLst/>
                <a:latin typeface="JetBrains Mono"/>
              </a:rPr>
              <a:t> rata </a:t>
            </a:r>
            <a:r>
              <a:rPr lang="en-US" b="0" dirty="0" err="1">
                <a:effectLst/>
                <a:latin typeface="JetBrains Mono"/>
              </a:rPr>
              <a:t>rata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luas</a:t>
            </a:r>
            <a:r>
              <a:rPr lang="en-US" b="0" dirty="0">
                <a:effectLst/>
                <a:latin typeface="JetBrains Mono"/>
              </a:rPr>
              <a:t> area </a:t>
            </a:r>
            <a:r>
              <a:rPr lang="en-US" b="0" dirty="0" err="1">
                <a:effectLst/>
                <a:latin typeface="JetBrains Mono"/>
              </a:rPr>
              <a:t>rumah</a:t>
            </a:r>
            <a:r>
              <a:rPr lang="en-US" b="0" dirty="0">
                <a:effectLst/>
                <a:latin typeface="JetBrains Mono"/>
              </a:rPr>
              <a:t> paling </a:t>
            </a:r>
            <a:r>
              <a:rPr lang="en-US" b="0" dirty="0" err="1">
                <a:effectLst/>
                <a:latin typeface="JetBrains Mono"/>
              </a:rPr>
              <a:t>tinggi</a:t>
            </a:r>
            <a:r>
              <a:rPr lang="en-US" b="0" dirty="0">
                <a:effectLst/>
                <a:latin typeface="JetBrains Mono"/>
              </a:rPr>
              <a:t>, </a:t>
            </a:r>
            <a:r>
              <a:rPr lang="en-US" b="0" dirty="0" err="1">
                <a:effectLst/>
                <a:latin typeface="JetBrains Mono"/>
              </a:rPr>
              <a:t>lalu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diikuti</a:t>
            </a:r>
            <a:r>
              <a:rPr lang="en-US" b="0" dirty="0">
                <a:effectLst/>
                <a:latin typeface="JetBrains Mono"/>
              </a:rPr>
              <a:t> oleh above </a:t>
            </a:r>
            <a:r>
              <a:rPr lang="en-US" b="0" dirty="0" err="1">
                <a:effectLst/>
                <a:latin typeface="JetBrains Mono"/>
              </a:rPr>
              <a:t>avarage</a:t>
            </a:r>
            <a:r>
              <a:rPr lang="en-US" b="0" dirty="0">
                <a:effectLst/>
                <a:latin typeface="JetBrains Mono"/>
              </a:rPr>
              <a:t> dan below average</a:t>
            </a:r>
          </a:p>
        </p:txBody>
      </p:sp>
    </p:spTree>
    <p:extLst>
      <p:ext uri="{BB962C8B-B14F-4D97-AF65-F5344CB8AC3E}">
        <p14:creationId xmlns:p14="http://schemas.microsoft.com/office/powerpoint/2010/main" val="1931790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18D8E-F2F1-1DB4-2F98-E1383524F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118E04F-481E-D525-FD0B-7DCAED344E8A}"/>
              </a:ext>
            </a:extLst>
          </p:cNvPr>
          <p:cNvSpPr txBox="1"/>
          <p:nvPr/>
        </p:nvSpPr>
        <p:spPr>
          <a:xfrm>
            <a:off x="609079" y="272648"/>
            <a:ext cx="598958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/>
              <a:t>Data Exploration</a:t>
            </a:r>
            <a:endParaRPr lang="en-US" sz="6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A201B8-E101-6DAB-7947-399CBC938921}"/>
              </a:ext>
            </a:extLst>
          </p:cNvPr>
          <p:cNvSpPr txBox="1"/>
          <p:nvPr/>
        </p:nvSpPr>
        <p:spPr>
          <a:xfrm>
            <a:off x="437664" y="4813358"/>
            <a:ext cx="113118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/>
              <a:t>Proporsi</a:t>
            </a:r>
            <a:r>
              <a:rPr lang="en-US" dirty="0"/>
              <a:t> </a:t>
            </a:r>
            <a:r>
              <a:rPr lang="en-US" dirty="0" err="1"/>
              <a:t>kategori</a:t>
            </a:r>
            <a:r>
              <a:rPr lang="en-US" dirty="0"/>
              <a:t> </a:t>
            </a:r>
            <a:r>
              <a:rPr lang="en-US" dirty="0" err="1"/>
              <a:t>harga</a:t>
            </a:r>
            <a:r>
              <a:rPr lang="en-US" dirty="0"/>
              <a:t> above average dan outlier </a:t>
            </a:r>
            <a:r>
              <a:rPr lang="en-US" dirty="0" err="1"/>
              <a:t>semakin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ketika</a:t>
            </a:r>
            <a:r>
              <a:rPr lang="en-US" dirty="0"/>
              <a:t> </a:t>
            </a:r>
            <a:r>
              <a:rPr lang="en-US" dirty="0" err="1"/>
              <a:t>disandingkan</a:t>
            </a:r>
            <a:r>
              <a:rPr lang="en-US" dirty="0"/>
              <a:t> </a:t>
            </a:r>
            <a:r>
              <a:rPr lang="en-US" dirty="0" err="1"/>
              <a:t>mulai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unfurnished -&gt; semi-furnished -&gt; furnished. </a:t>
            </a:r>
            <a:r>
              <a:rPr lang="en-US" dirty="0" err="1"/>
              <a:t>artinya</a:t>
            </a:r>
            <a:r>
              <a:rPr lang="en-US" dirty="0"/>
              <a:t> </a:t>
            </a:r>
            <a:r>
              <a:rPr lang="en-US" dirty="0" err="1"/>
              <a:t>furnishstatus</a:t>
            </a:r>
            <a:r>
              <a:rPr lang="en-US" dirty="0"/>
              <a:t> juga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pengaruh</a:t>
            </a:r>
            <a:r>
              <a:rPr lang="en-US" dirty="0"/>
              <a:t> </a:t>
            </a:r>
            <a:r>
              <a:rPr lang="en-US" dirty="0" err="1"/>
              <a:t>terhadap</a:t>
            </a:r>
            <a:r>
              <a:rPr lang="en-US" dirty="0"/>
              <a:t> </a:t>
            </a:r>
            <a:r>
              <a:rPr lang="en-US" dirty="0" err="1"/>
              <a:t>harga</a:t>
            </a:r>
            <a:r>
              <a:rPr lang="en-US" dirty="0"/>
              <a:t> </a:t>
            </a:r>
            <a:r>
              <a:rPr lang="en-US" dirty="0" err="1"/>
              <a:t>rumah</a:t>
            </a:r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FA2C20-F9DB-E284-08C3-67E4A3185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858" y="1445452"/>
            <a:ext cx="9596284" cy="304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45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A71D4-BEAA-73A5-19B6-04018C354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3C2E0CF-9521-3406-6F85-03942DBC050D}"/>
              </a:ext>
            </a:extLst>
          </p:cNvPr>
          <p:cNvSpPr txBox="1"/>
          <p:nvPr/>
        </p:nvSpPr>
        <p:spPr>
          <a:xfrm>
            <a:off x="609079" y="272648"/>
            <a:ext cx="701519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 err="1"/>
              <a:t>Statistik</a:t>
            </a:r>
            <a:r>
              <a:rPr lang="en-US" sz="6000" b="1" dirty="0"/>
              <a:t> </a:t>
            </a:r>
            <a:r>
              <a:rPr lang="en-US" sz="6000" b="1" dirty="0" err="1"/>
              <a:t>Inferensial</a:t>
            </a:r>
            <a:endParaRPr lang="en-US" sz="6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D43A99-051F-ADFE-F7AA-FE66C704A154}"/>
              </a:ext>
            </a:extLst>
          </p:cNvPr>
          <p:cNvSpPr txBox="1"/>
          <p:nvPr/>
        </p:nvSpPr>
        <p:spPr>
          <a:xfrm>
            <a:off x="609079" y="1588550"/>
            <a:ext cx="4999574" cy="1544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1425"/>
              </a:lnSpc>
            </a:pPr>
            <a:r>
              <a:rPr lang="en-US" b="1" dirty="0">
                <a:effectLst/>
                <a:latin typeface="JetBrains Mono"/>
              </a:rPr>
              <a:t>H0</a:t>
            </a:r>
            <a:r>
              <a:rPr lang="en-US" b="0" dirty="0">
                <a:effectLst/>
                <a:latin typeface="JetBrains Mono"/>
              </a:rPr>
              <a:t>: L</a:t>
            </a:r>
            <a:r>
              <a:rPr lang="en-US" dirty="0"/>
              <a:t>uas </a:t>
            </a:r>
            <a:r>
              <a:rPr lang="en-US" dirty="0" err="1"/>
              <a:t>rumah</a:t>
            </a:r>
            <a:r>
              <a:rPr lang="en-US" dirty="0"/>
              <a:t> di </a:t>
            </a:r>
            <a:r>
              <a:rPr lang="en-US" dirty="0" err="1"/>
              <a:t>atas</a:t>
            </a:r>
            <a:r>
              <a:rPr lang="en-US" dirty="0"/>
              <a:t> rata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harga</a:t>
            </a:r>
            <a:r>
              <a:rPr lang="en-US" dirty="0"/>
              <a:t> </a:t>
            </a:r>
            <a:r>
              <a:rPr lang="en-US" dirty="0" err="1"/>
              <a:t>rumah</a:t>
            </a:r>
            <a:r>
              <a:rPr lang="en-US" dirty="0"/>
              <a:t> yang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rendah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dibandingkan</a:t>
            </a:r>
            <a:r>
              <a:rPr lang="en-US" dirty="0"/>
              <a:t> </a:t>
            </a:r>
            <a:r>
              <a:rPr lang="en-US" dirty="0" err="1"/>
              <a:t>luas</a:t>
            </a:r>
            <a:r>
              <a:rPr lang="en-US" dirty="0"/>
              <a:t> </a:t>
            </a:r>
            <a:r>
              <a:rPr lang="en-US" dirty="0" err="1"/>
              <a:t>rumah</a:t>
            </a:r>
            <a:r>
              <a:rPr lang="en-US" dirty="0"/>
              <a:t> di </a:t>
            </a:r>
            <a:r>
              <a:rPr lang="en-US" dirty="0" err="1"/>
              <a:t>bawah</a:t>
            </a:r>
            <a:r>
              <a:rPr lang="en-US" dirty="0"/>
              <a:t> rata </a:t>
            </a:r>
            <a:r>
              <a:rPr lang="en-US" dirty="0" err="1"/>
              <a:t>rata</a:t>
            </a:r>
            <a:endParaRPr lang="en-US" dirty="0"/>
          </a:p>
          <a:p>
            <a:pPr algn="just">
              <a:lnSpc>
                <a:spcPts val="1425"/>
              </a:lnSpc>
              <a:buNone/>
            </a:pPr>
            <a:endParaRPr lang="en-US" b="0" dirty="0">
              <a:effectLst/>
              <a:latin typeface="JetBrains Mono"/>
            </a:endParaRPr>
          </a:p>
          <a:p>
            <a:pPr algn="just">
              <a:lnSpc>
                <a:spcPts val="1425"/>
              </a:lnSpc>
            </a:pPr>
            <a:r>
              <a:rPr lang="en-US" b="1" dirty="0">
                <a:latin typeface="JetBrains Mono"/>
              </a:rPr>
              <a:t>H1</a:t>
            </a:r>
            <a:r>
              <a:rPr lang="en-US" dirty="0">
                <a:latin typeface="JetBrains Mono"/>
              </a:rPr>
              <a:t>: L</a:t>
            </a:r>
            <a:r>
              <a:rPr lang="en-US" dirty="0"/>
              <a:t>uas </a:t>
            </a:r>
            <a:r>
              <a:rPr lang="en-US" dirty="0" err="1"/>
              <a:t>rumah</a:t>
            </a:r>
            <a:r>
              <a:rPr lang="en-US" dirty="0"/>
              <a:t> di </a:t>
            </a:r>
            <a:r>
              <a:rPr lang="en-US" dirty="0" err="1"/>
              <a:t>atas</a:t>
            </a:r>
            <a:r>
              <a:rPr lang="en-US" dirty="0"/>
              <a:t> rata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harga</a:t>
            </a:r>
            <a:r>
              <a:rPr lang="en-US" dirty="0"/>
              <a:t> </a:t>
            </a:r>
            <a:r>
              <a:rPr lang="en-US" dirty="0" err="1"/>
              <a:t>rumah</a:t>
            </a:r>
            <a:r>
              <a:rPr lang="en-US" dirty="0"/>
              <a:t> yang </a:t>
            </a:r>
            <a:r>
              <a:rPr lang="en-US" dirty="0" err="1"/>
              <a:t>lebih</a:t>
            </a:r>
            <a:r>
              <a:rPr lang="en-US" dirty="0"/>
              <a:t> mahal </a:t>
            </a:r>
            <a:r>
              <a:rPr lang="en-US" dirty="0" err="1"/>
              <a:t>dibandingkan</a:t>
            </a:r>
            <a:r>
              <a:rPr lang="en-US" dirty="0"/>
              <a:t> </a:t>
            </a:r>
            <a:r>
              <a:rPr lang="en-US" dirty="0" err="1"/>
              <a:t>luas</a:t>
            </a:r>
            <a:r>
              <a:rPr lang="en-US" dirty="0"/>
              <a:t> </a:t>
            </a:r>
            <a:r>
              <a:rPr lang="en-US" dirty="0" err="1"/>
              <a:t>rumah</a:t>
            </a:r>
            <a:r>
              <a:rPr lang="en-US" dirty="0"/>
              <a:t> di </a:t>
            </a:r>
            <a:r>
              <a:rPr lang="en-US" dirty="0" err="1"/>
              <a:t>bawah</a:t>
            </a:r>
            <a:r>
              <a:rPr lang="en-US" dirty="0"/>
              <a:t> rata </a:t>
            </a:r>
            <a:r>
              <a:rPr lang="en-US" dirty="0" err="1"/>
              <a:t>rata</a:t>
            </a:r>
            <a:endParaRPr lang="en-US" dirty="0"/>
          </a:p>
          <a:p>
            <a:pPr algn="just">
              <a:lnSpc>
                <a:spcPts val="1425"/>
              </a:lnSpc>
              <a:buNone/>
            </a:pPr>
            <a:endParaRPr lang="en-US" b="0" dirty="0">
              <a:effectLst/>
              <a:latin typeface="JetBrains Mon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001846-F127-C846-7031-72EBE6A16C1A}"/>
              </a:ext>
            </a:extLst>
          </p:cNvPr>
          <p:cNvSpPr txBox="1"/>
          <p:nvPr/>
        </p:nvSpPr>
        <p:spPr>
          <a:xfrm>
            <a:off x="6430948" y="1588550"/>
            <a:ext cx="4999574" cy="64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1425"/>
              </a:lnSpc>
            </a:pPr>
            <a:r>
              <a:rPr lang="en-US" b="1" dirty="0">
                <a:latin typeface="JetBrains Mono"/>
              </a:rPr>
              <a:t>Uji </a:t>
            </a:r>
            <a:r>
              <a:rPr lang="en-US" b="1" dirty="0" err="1">
                <a:latin typeface="JetBrains Mono"/>
              </a:rPr>
              <a:t>Formalitas</a:t>
            </a:r>
            <a:r>
              <a:rPr lang="en-US" dirty="0">
                <a:latin typeface="JetBrains Mono"/>
              </a:rPr>
              <a:t>: </a:t>
            </a:r>
            <a:r>
              <a:rPr lang="en-US" dirty="0"/>
              <a:t>Shapiro-Wilk</a:t>
            </a:r>
          </a:p>
          <a:p>
            <a:pPr algn="just">
              <a:lnSpc>
                <a:spcPts val="1425"/>
              </a:lnSpc>
            </a:pPr>
            <a:r>
              <a:rPr lang="en-US" b="1" dirty="0">
                <a:effectLst/>
                <a:latin typeface="JetBrains Mono"/>
              </a:rPr>
              <a:t>Metode</a:t>
            </a:r>
            <a:r>
              <a:rPr lang="en-US" b="0" dirty="0">
                <a:effectLst/>
                <a:latin typeface="JetBrains Mono"/>
              </a:rPr>
              <a:t>: </a:t>
            </a:r>
            <a:r>
              <a:rPr lang="en-US" dirty="0"/>
              <a:t>Mann-Whitney U,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distribusi</a:t>
            </a:r>
            <a:r>
              <a:rPr lang="en-US" dirty="0"/>
              <a:t> data </a:t>
            </a:r>
            <a:r>
              <a:rPr lang="en-US" dirty="0" err="1"/>
              <a:t>tidak</a:t>
            </a:r>
            <a:r>
              <a:rPr lang="en-US" dirty="0"/>
              <a:t> normal</a:t>
            </a:r>
            <a:endParaRPr lang="en-US" b="0" dirty="0">
              <a:effectLst/>
              <a:latin typeface="JetBrains Mon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001846-F127-C846-7031-72EBE6A16C1A}"/>
              </a:ext>
            </a:extLst>
          </p:cNvPr>
          <p:cNvSpPr txBox="1"/>
          <p:nvPr/>
        </p:nvSpPr>
        <p:spPr>
          <a:xfrm>
            <a:off x="609079" y="3140008"/>
            <a:ext cx="4999574" cy="1185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1425"/>
              </a:lnSpc>
            </a:pPr>
            <a:r>
              <a:rPr lang="en-US" b="1" dirty="0">
                <a:latin typeface="JetBrains Mono"/>
              </a:rPr>
              <a:t>Alpha</a:t>
            </a:r>
            <a:r>
              <a:rPr lang="en-US" dirty="0">
                <a:latin typeface="JetBrains Mono"/>
              </a:rPr>
              <a:t> =0.05</a:t>
            </a:r>
          </a:p>
          <a:p>
            <a:pPr algn="just">
              <a:lnSpc>
                <a:spcPts val="1425"/>
              </a:lnSpc>
            </a:pPr>
            <a:r>
              <a:rPr lang="en-US" b="1" dirty="0" err="1">
                <a:latin typeface="JetBrains Mono"/>
              </a:rPr>
              <a:t>Pabove</a:t>
            </a:r>
            <a:r>
              <a:rPr lang="en-US" dirty="0">
                <a:latin typeface="JetBrains Mono"/>
              </a:rPr>
              <a:t> = </a:t>
            </a:r>
            <a:r>
              <a:rPr lang="en-US" b="0" dirty="0">
                <a:effectLst/>
                <a:latin typeface="JetBrains Mono"/>
              </a:rPr>
              <a:t>Luas </a:t>
            </a:r>
            <a:r>
              <a:rPr lang="en-US" b="0" dirty="0" err="1">
                <a:effectLst/>
                <a:latin typeface="JetBrains Mono"/>
              </a:rPr>
              <a:t>rumah</a:t>
            </a:r>
            <a:r>
              <a:rPr lang="en-US" b="0" dirty="0">
                <a:effectLst/>
                <a:latin typeface="JetBrains Mono"/>
              </a:rPr>
              <a:t> di </a:t>
            </a:r>
            <a:r>
              <a:rPr lang="en-US" b="0" dirty="0" err="1">
                <a:effectLst/>
                <a:latin typeface="JetBrains Mono"/>
              </a:rPr>
              <a:t>atas</a:t>
            </a:r>
            <a:r>
              <a:rPr lang="en-US" b="0" dirty="0">
                <a:effectLst/>
                <a:latin typeface="JetBrains Mono"/>
              </a:rPr>
              <a:t> rata </a:t>
            </a:r>
            <a:r>
              <a:rPr lang="en-US" b="0" dirty="0" err="1">
                <a:effectLst/>
                <a:latin typeface="JetBrains Mono"/>
              </a:rPr>
              <a:t>rata</a:t>
            </a:r>
            <a:endParaRPr lang="en-US" b="0" dirty="0">
              <a:effectLst/>
              <a:latin typeface="JetBrains Mono"/>
            </a:endParaRPr>
          </a:p>
          <a:p>
            <a:pPr algn="just">
              <a:lnSpc>
                <a:spcPts val="1425"/>
              </a:lnSpc>
            </a:pPr>
            <a:r>
              <a:rPr lang="en-US" b="1" dirty="0" err="1">
                <a:latin typeface="JetBrains Mono"/>
              </a:rPr>
              <a:t>Pbelow</a:t>
            </a:r>
            <a:r>
              <a:rPr lang="en-US" dirty="0">
                <a:latin typeface="JetBrains Mono"/>
              </a:rPr>
              <a:t> = </a:t>
            </a:r>
            <a:r>
              <a:rPr lang="en-US" b="0" dirty="0">
                <a:effectLst/>
                <a:latin typeface="JetBrains Mono"/>
              </a:rPr>
              <a:t>Luas </a:t>
            </a:r>
            <a:r>
              <a:rPr lang="en-US" b="0" dirty="0" err="1">
                <a:effectLst/>
                <a:latin typeface="JetBrains Mono"/>
              </a:rPr>
              <a:t>rumah</a:t>
            </a:r>
            <a:r>
              <a:rPr lang="en-US" b="0" dirty="0">
                <a:effectLst/>
                <a:latin typeface="JetBrains Mono"/>
              </a:rPr>
              <a:t> di </a:t>
            </a:r>
            <a:r>
              <a:rPr lang="en-US" b="0" dirty="0" err="1">
                <a:effectLst/>
                <a:latin typeface="JetBrains Mono"/>
              </a:rPr>
              <a:t>bawah</a:t>
            </a:r>
            <a:r>
              <a:rPr lang="en-US" b="0" dirty="0">
                <a:effectLst/>
                <a:latin typeface="JetBrains Mono"/>
              </a:rPr>
              <a:t> rata </a:t>
            </a:r>
            <a:r>
              <a:rPr lang="en-US" b="0" dirty="0" err="1">
                <a:effectLst/>
                <a:latin typeface="JetBrains Mono"/>
              </a:rPr>
              <a:t>rata</a:t>
            </a:r>
            <a:endParaRPr lang="en-US" b="0" dirty="0">
              <a:effectLst/>
              <a:latin typeface="JetBrains Mono"/>
            </a:endParaRPr>
          </a:p>
          <a:p>
            <a:pPr algn="just">
              <a:lnSpc>
                <a:spcPts val="1425"/>
              </a:lnSpc>
            </a:pPr>
            <a:endParaRPr lang="en-US" b="0" dirty="0">
              <a:effectLst/>
              <a:latin typeface="JetBrains Mono"/>
            </a:endParaRPr>
          </a:p>
          <a:p>
            <a:pPr algn="just">
              <a:lnSpc>
                <a:spcPts val="1425"/>
              </a:lnSpc>
            </a:pPr>
            <a:r>
              <a:rPr lang="en-US" b="1" dirty="0">
                <a:latin typeface="JetBrains Mono"/>
              </a:rPr>
              <a:t>H0</a:t>
            </a:r>
            <a:r>
              <a:rPr lang="en-US" dirty="0">
                <a:latin typeface="JetBrains Mono"/>
              </a:rPr>
              <a:t>: </a:t>
            </a:r>
            <a:r>
              <a:rPr lang="en-US" b="0" dirty="0" err="1">
                <a:effectLst/>
                <a:latin typeface="JetBrains Mono"/>
              </a:rPr>
              <a:t>Pabove</a:t>
            </a:r>
            <a:r>
              <a:rPr lang="en-US" b="0" dirty="0">
                <a:effectLst/>
                <a:latin typeface="JetBrains Mono"/>
              </a:rPr>
              <a:t> &lt;= </a:t>
            </a:r>
            <a:r>
              <a:rPr lang="en-US" b="0" dirty="0" err="1">
                <a:effectLst/>
                <a:latin typeface="JetBrains Mono"/>
              </a:rPr>
              <a:t>Pbelow</a:t>
            </a:r>
            <a:endParaRPr lang="en-US" dirty="0">
              <a:latin typeface="JetBrains Mono"/>
            </a:endParaRPr>
          </a:p>
          <a:p>
            <a:pPr algn="just">
              <a:lnSpc>
                <a:spcPts val="1425"/>
              </a:lnSpc>
            </a:pPr>
            <a:r>
              <a:rPr lang="en-US" b="1" dirty="0">
                <a:effectLst/>
                <a:latin typeface="JetBrains Mono"/>
              </a:rPr>
              <a:t>H1</a:t>
            </a:r>
            <a:r>
              <a:rPr lang="en-US" b="0" dirty="0">
                <a:effectLst/>
                <a:latin typeface="JetBrains Mono"/>
              </a:rPr>
              <a:t>: </a:t>
            </a:r>
            <a:r>
              <a:rPr lang="en-US" b="0" dirty="0" err="1">
                <a:effectLst/>
                <a:latin typeface="JetBrains Mono"/>
              </a:rPr>
              <a:t>Pabove</a:t>
            </a:r>
            <a:r>
              <a:rPr lang="en-US" b="0" dirty="0">
                <a:effectLst/>
                <a:latin typeface="JetBrains Mono"/>
              </a:rPr>
              <a:t> &gt; </a:t>
            </a:r>
            <a:r>
              <a:rPr lang="en-US" b="0" dirty="0" err="1">
                <a:effectLst/>
                <a:latin typeface="JetBrains Mono"/>
              </a:rPr>
              <a:t>Pbelow</a:t>
            </a:r>
            <a:endParaRPr lang="en-US" b="0" dirty="0">
              <a:effectLst/>
              <a:latin typeface="JetBrains Mono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4F3E12-9B7F-DCD2-966A-08B99BB8F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5574" y="4527665"/>
            <a:ext cx="8230749" cy="205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918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2C840-A36E-A8D9-349C-7EFB754F7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7659F1C-3166-B4FD-472C-9335C344BB0F}"/>
              </a:ext>
            </a:extLst>
          </p:cNvPr>
          <p:cNvSpPr txBox="1"/>
          <p:nvPr/>
        </p:nvSpPr>
        <p:spPr>
          <a:xfrm>
            <a:off x="609079" y="272648"/>
            <a:ext cx="701519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 err="1"/>
              <a:t>Statistik</a:t>
            </a:r>
            <a:r>
              <a:rPr lang="en-US" sz="6000" b="1" dirty="0"/>
              <a:t> </a:t>
            </a:r>
            <a:r>
              <a:rPr lang="en-US" sz="6000" b="1" dirty="0" err="1"/>
              <a:t>Inferensial</a:t>
            </a:r>
            <a:endParaRPr lang="en-US" sz="6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CB68E9-8DC2-F3AE-8C08-59645296C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871" y="1547446"/>
            <a:ext cx="5905760" cy="47126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022BBA3-39B6-A38C-864A-C364188E379A}"/>
              </a:ext>
            </a:extLst>
          </p:cNvPr>
          <p:cNvSpPr txBox="1"/>
          <p:nvPr/>
        </p:nvSpPr>
        <p:spPr>
          <a:xfrm>
            <a:off x="6826779" y="1781774"/>
            <a:ext cx="4778498" cy="262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1425"/>
              </a:lnSpc>
              <a:buFontTx/>
              <a:buChar char="-"/>
            </a:pPr>
            <a:r>
              <a:rPr lang="en-US" b="0" dirty="0">
                <a:effectLst/>
                <a:latin typeface="JetBrains Mono"/>
              </a:rPr>
              <a:t>Pada price vs area, </a:t>
            </a:r>
            <a:r>
              <a:rPr lang="en-US" b="0" dirty="0" err="1">
                <a:effectLst/>
                <a:latin typeface="JetBrains Mono"/>
              </a:rPr>
              <a:t>dapat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dilihat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ada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korelasi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positif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antara</a:t>
            </a:r>
            <a:r>
              <a:rPr lang="en-US" b="0" dirty="0">
                <a:effectLst/>
                <a:latin typeface="JetBrains Mono"/>
              </a:rPr>
              <a:t> price dan area</a:t>
            </a:r>
          </a:p>
          <a:p>
            <a:pPr marL="285750" indent="-285750">
              <a:lnSpc>
                <a:spcPts val="1425"/>
              </a:lnSpc>
              <a:buFontTx/>
              <a:buChar char="-"/>
            </a:pPr>
            <a:endParaRPr lang="en-US" b="0" dirty="0">
              <a:effectLst/>
              <a:latin typeface="JetBrains Mono"/>
            </a:endParaRPr>
          </a:p>
          <a:p>
            <a:pPr marL="285750" indent="-285750">
              <a:lnSpc>
                <a:spcPts val="1425"/>
              </a:lnSpc>
              <a:buFontTx/>
              <a:buChar char="-"/>
            </a:pPr>
            <a:r>
              <a:rPr lang="en-US" b="0" dirty="0">
                <a:effectLst/>
                <a:latin typeface="JetBrains Mono"/>
              </a:rPr>
              <a:t>pada price vs bedroom, </a:t>
            </a:r>
            <a:r>
              <a:rPr lang="en-US" b="0" dirty="0" err="1">
                <a:effectLst/>
                <a:latin typeface="JetBrains Mono"/>
              </a:rPr>
              <a:t>distibusi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sebaran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rumah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memiliki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jumlah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kamar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tidur</a:t>
            </a:r>
            <a:r>
              <a:rPr lang="en-US" b="0" dirty="0">
                <a:effectLst/>
                <a:latin typeface="JetBrains Mono"/>
              </a:rPr>
              <a:t> 2,3 </a:t>
            </a:r>
            <a:r>
              <a:rPr lang="en-US" b="0" dirty="0" err="1">
                <a:effectLst/>
                <a:latin typeface="JetBrains Mono"/>
              </a:rPr>
              <a:t>atau</a:t>
            </a:r>
            <a:r>
              <a:rPr lang="en-US" b="0" dirty="0">
                <a:effectLst/>
                <a:latin typeface="JetBrains Mono"/>
              </a:rPr>
              <a:t> 4</a:t>
            </a:r>
          </a:p>
          <a:p>
            <a:pPr>
              <a:lnSpc>
                <a:spcPts val="1425"/>
              </a:lnSpc>
            </a:pPr>
            <a:endParaRPr lang="en-US" b="0" dirty="0">
              <a:effectLst/>
              <a:latin typeface="JetBrains Mono"/>
            </a:endParaRPr>
          </a:p>
          <a:p>
            <a:pPr marL="285750" indent="-285750">
              <a:lnSpc>
                <a:spcPts val="1425"/>
              </a:lnSpc>
              <a:buFontTx/>
              <a:buChar char="-"/>
            </a:pPr>
            <a:r>
              <a:rPr lang="en-US" b="0" dirty="0">
                <a:effectLst/>
                <a:latin typeface="JetBrains Mono"/>
              </a:rPr>
              <a:t>pada price vs bathroom, </a:t>
            </a:r>
            <a:r>
              <a:rPr lang="en-US" b="0" dirty="0" err="1">
                <a:effectLst/>
                <a:latin typeface="JetBrains Mono"/>
              </a:rPr>
              <a:t>distibusi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sebaran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rumah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memiliki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jumlah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kamar</a:t>
            </a:r>
            <a:r>
              <a:rPr lang="en-US" b="0" dirty="0">
                <a:effectLst/>
                <a:latin typeface="JetBrains Mono"/>
              </a:rPr>
              <a:t> mandi 1 </a:t>
            </a:r>
            <a:r>
              <a:rPr lang="en-US" b="0" dirty="0" err="1">
                <a:effectLst/>
                <a:latin typeface="JetBrains Mono"/>
              </a:rPr>
              <a:t>atau</a:t>
            </a:r>
            <a:r>
              <a:rPr lang="en-US" b="0" dirty="0">
                <a:effectLst/>
                <a:latin typeface="JetBrains Mono"/>
              </a:rPr>
              <a:t> 2</a:t>
            </a:r>
          </a:p>
          <a:p>
            <a:pPr>
              <a:lnSpc>
                <a:spcPts val="1425"/>
              </a:lnSpc>
            </a:pPr>
            <a:endParaRPr lang="en-US" b="0" dirty="0">
              <a:effectLst/>
              <a:latin typeface="JetBrains Mono"/>
            </a:endParaRPr>
          </a:p>
          <a:p>
            <a:pPr marL="285750" indent="-285750">
              <a:lnSpc>
                <a:spcPts val="1425"/>
              </a:lnSpc>
              <a:buFontTx/>
              <a:buChar char="-"/>
            </a:pPr>
            <a:r>
              <a:rPr lang="en-US" b="0" dirty="0">
                <a:effectLst/>
                <a:latin typeface="JetBrains Mono"/>
              </a:rPr>
              <a:t>pada price vs parking, </a:t>
            </a:r>
            <a:r>
              <a:rPr lang="en-US" b="0" dirty="0" err="1">
                <a:effectLst/>
                <a:latin typeface="JetBrains Mono"/>
              </a:rPr>
              <a:t>distibusi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sebaran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rumah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memiliki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jumlah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tempat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parkir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kurang</a:t>
            </a:r>
            <a:r>
              <a:rPr lang="en-US" b="0" dirty="0">
                <a:effectLst/>
                <a:latin typeface="JetBrains Mono"/>
              </a:rPr>
              <a:t> </a:t>
            </a:r>
            <a:r>
              <a:rPr lang="en-US" b="0" dirty="0" err="1">
                <a:effectLst/>
                <a:latin typeface="JetBrains Mono"/>
              </a:rPr>
              <a:t>dari</a:t>
            </a:r>
            <a:r>
              <a:rPr lang="en-US" b="0" dirty="0">
                <a:effectLst/>
                <a:latin typeface="JetBrains Mono"/>
              </a:rPr>
              <a:t> 3</a:t>
            </a:r>
          </a:p>
          <a:p>
            <a:pPr>
              <a:lnSpc>
                <a:spcPts val="1425"/>
              </a:lnSpc>
            </a:pPr>
            <a:endParaRPr lang="en-US" b="0" dirty="0">
              <a:effectLst/>
              <a:latin typeface="JetBrains Mono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effectLst/>
                <a:latin typeface="JetBrains Mono"/>
              </a:rPr>
            </a:br>
            <a:endParaRPr lang="en-US" b="0" dirty="0"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11270447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DF33A-FCAC-39BC-A69F-19859E75B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6B7C568-B255-193B-F08B-12F6AFC017C8}"/>
              </a:ext>
            </a:extLst>
          </p:cNvPr>
          <p:cNvSpPr txBox="1"/>
          <p:nvPr/>
        </p:nvSpPr>
        <p:spPr>
          <a:xfrm>
            <a:off x="609079" y="272648"/>
            <a:ext cx="701519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 err="1"/>
              <a:t>Statistik</a:t>
            </a:r>
            <a:r>
              <a:rPr lang="en-US" sz="6000" b="1" dirty="0"/>
              <a:t> </a:t>
            </a:r>
            <a:r>
              <a:rPr lang="en-US" sz="6000" b="1" dirty="0" err="1"/>
              <a:t>Inferensial</a:t>
            </a:r>
            <a:endParaRPr lang="en-US" sz="6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6744DF-128B-5919-F9AA-D7BEE0204211}"/>
              </a:ext>
            </a:extLst>
          </p:cNvPr>
          <p:cNvSpPr txBox="1"/>
          <p:nvPr/>
        </p:nvSpPr>
        <p:spPr>
          <a:xfrm>
            <a:off x="6826779" y="1781774"/>
            <a:ext cx="477849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Pada </a:t>
            </a:r>
            <a:r>
              <a:rPr lang="en-US" dirty="0" err="1"/>
              <a:t>korelasi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kolom</a:t>
            </a:r>
            <a:r>
              <a:rPr lang="en-US" dirty="0"/>
              <a:t> </a:t>
            </a:r>
            <a:r>
              <a:rPr lang="en-US" dirty="0" err="1"/>
              <a:t>numerikal</a:t>
            </a:r>
            <a:r>
              <a:rPr lang="en-US" dirty="0"/>
              <a:t>, </a:t>
            </a:r>
            <a:r>
              <a:rPr lang="en-US" dirty="0" err="1"/>
              <a:t>ditemukan</a:t>
            </a:r>
            <a:r>
              <a:rPr lang="en-US" dirty="0"/>
              <a:t> </a:t>
            </a:r>
            <a:r>
              <a:rPr lang="en-US" dirty="0" err="1"/>
              <a:t>semua</a:t>
            </a:r>
            <a:r>
              <a:rPr lang="en-US" dirty="0"/>
              <a:t> variable numeri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korelasi</a:t>
            </a:r>
            <a:r>
              <a:rPr lang="en-US" dirty="0"/>
              <a:t> </a:t>
            </a:r>
            <a:r>
              <a:rPr lang="en-US" dirty="0" err="1"/>
              <a:t>positif</a:t>
            </a:r>
            <a:r>
              <a:rPr lang="en-US" dirty="0"/>
              <a:t> </a:t>
            </a:r>
            <a:r>
              <a:rPr lang="en-US" dirty="0" err="1"/>
              <a:t>terhadap</a:t>
            </a:r>
            <a:r>
              <a:rPr lang="en-US" dirty="0"/>
              <a:t> </a:t>
            </a:r>
            <a:r>
              <a:rPr lang="en-US" dirty="0" err="1"/>
              <a:t>harga</a:t>
            </a:r>
            <a:r>
              <a:rPr lang="en-US" dirty="0"/>
              <a:t> </a:t>
            </a:r>
            <a:r>
              <a:rPr lang="en-US" dirty="0" err="1"/>
              <a:t>rumah</a:t>
            </a:r>
            <a:endParaRPr lang="en-US" dirty="0"/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err="1"/>
              <a:t>Korelasi</a:t>
            </a:r>
            <a:r>
              <a:rPr lang="en-US" dirty="0"/>
              <a:t> yang paling </a:t>
            </a:r>
            <a:r>
              <a:rPr lang="en-US" dirty="0" err="1"/>
              <a:t>kuat</a:t>
            </a:r>
            <a:r>
              <a:rPr lang="en-US" dirty="0"/>
              <a:t> </a:t>
            </a:r>
            <a:r>
              <a:rPr lang="en-US" dirty="0" err="1"/>
              <a:t>terhadap</a:t>
            </a:r>
            <a:r>
              <a:rPr lang="en-US" dirty="0"/>
              <a:t> </a:t>
            </a:r>
            <a:r>
              <a:rPr lang="en-US" dirty="0" err="1"/>
              <a:t>harga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area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D97441-272F-F244-023A-6709C3892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23" y="1670276"/>
            <a:ext cx="5486400" cy="456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8571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FA0B6-5A57-9E53-CB6F-58E7E6E30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B6605AA-DF6F-7C2E-5CBC-1DF464114AA0}"/>
              </a:ext>
            </a:extLst>
          </p:cNvPr>
          <p:cNvSpPr txBox="1"/>
          <p:nvPr/>
        </p:nvSpPr>
        <p:spPr>
          <a:xfrm>
            <a:off x="609079" y="272648"/>
            <a:ext cx="420179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/>
              <a:t>Conclusion</a:t>
            </a:r>
            <a:endParaRPr lang="en-US" sz="6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90DEDE-CAED-B5B1-49C4-F4FE54298843}"/>
              </a:ext>
            </a:extLst>
          </p:cNvPr>
          <p:cNvSpPr txBox="1"/>
          <p:nvPr/>
        </p:nvSpPr>
        <p:spPr>
          <a:xfrm>
            <a:off x="609078" y="1939090"/>
            <a:ext cx="1012774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Harga </a:t>
            </a:r>
            <a:r>
              <a:rPr lang="en-US" dirty="0" err="1"/>
              <a:t>rumah</a:t>
            </a:r>
            <a:r>
              <a:rPr lang="en-US" dirty="0"/>
              <a:t> </a:t>
            </a:r>
            <a:r>
              <a:rPr lang="en-US" dirty="0" err="1"/>
              <a:t>dibawah</a:t>
            </a:r>
            <a:r>
              <a:rPr lang="en-US" dirty="0"/>
              <a:t> rata </a:t>
            </a:r>
            <a:r>
              <a:rPr lang="en-US" dirty="0" err="1"/>
              <a:t>rata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fasilitas</a:t>
            </a:r>
            <a:r>
              <a:rPr lang="en-US" dirty="0"/>
              <a:t> </a:t>
            </a:r>
            <a:r>
              <a:rPr lang="en-US" dirty="0" err="1"/>
              <a:t>standar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rumah</a:t>
            </a:r>
            <a:r>
              <a:rPr lang="en-US" dirty="0"/>
              <a:t> pada </a:t>
            </a:r>
            <a:r>
              <a:rPr lang="en-US" dirty="0" err="1"/>
              <a:t>umumnya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Harga </a:t>
            </a:r>
            <a:r>
              <a:rPr lang="en-US" dirty="0" err="1"/>
              <a:t>rumah</a:t>
            </a:r>
            <a:r>
              <a:rPr lang="en-US" dirty="0"/>
              <a:t> </a:t>
            </a:r>
            <a:r>
              <a:rPr lang="en-US" dirty="0" err="1"/>
              <a:t>diatas</a:t>
            </a:r>
            <a:r>
              <a:rPr lang="en-US" dirty="0"/>
              <a:t> rata </a:t>
            </a:r>
            <a:r>
              <a:rPr lang="en-US" dirty="0" err="1"/>
              <a:t>rata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fasilitas</a:t>
            </a:r>
            <a:r>
              <a:rPr lang="en-US" dirty="0"/>
              <a:t> </a:t>
            </a:r>
            <a:r>
              <a:rPr lang="en-US" dirty="0" err="1"/>
              <a:t>sedikit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dibandingkan</a:t>
            </a:r>
            <a:r>
              <a:rPr lang="en-US" dirty="0"/>
              <a:t> </a:t>
            </a:r>
            <a:r>
              <a:rPr lang="en-US" dirty="0" err="1"/>
              <a:t>dibawah</a:t>
            </a:r>
            <a:r>
              <a:rPr lang="en-US" dirty="0"/>
              <a:t> rata </a:t>
            </a:r>
            <a:r>
              <a:rPr lang="en-US" dirty="0" err="1"/>
              <a:t>rata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Harga </a:t>
            </a:r>
            <a:r>
              <a:rPr lang="en-US" dirty="0" err="1"/>
              <a:t>rumah</a:t>
            </a:r>
            <a:r>
              <a:rPr lang="en-US" dirty="0"/>
              <a:t> yang </a:t>
            </a:r>
            <a:r>
              <a:rPr lang="en-US" dirty="0" err="1"/>
              <a:t>termasuk</a:t>
            </a:r>
            <a:r>
              <a:rPr lang="en-US" dirty="0"/>
              <a:t> outlier,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rumah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fasilitas</a:t>
            </a:r>
            <a:r>
              <a:rPr lang="en-US" dirty="0"/>
              <a:t>++ yang </a:t>
            </a:r>
            <a:r>
              <a:rPr lang="en-US" dirty="0" err="1"/>
              <a:t>mungkin</a:t>
            </a:r>
            <a:r>
              <a:rPr lang="en-US" dirty="0"/>
              <a:t> </a:t>
            </a:r>
            <a:r>
              <a:rPr lang="en-US" dirty="0" err="1"/>
              <a:t>diperuntukkan</a:t>
            </a:r>
            <a:r>
              <a:rPr lang="en-US" dirty="0"/>
              <a:t> </a:t>
            </a:r>
            <a:r>
              <a:rPr lang="en-US" dirty="0" err="1"/>
              <a:t>rumah</a:t>
            </a:r>
            <a:r>
              <a:rPr lang="en-US" dirty="0"/>
              <a:t> </a:t>
            </a:r>
            <a:r>
              <a:rPr lang="en-US" dirty="0" err="1"/>
              <a:t>keluarga</a:t>
            </a:r>
            <a:r>
              <a:rPr lang="en-US" dirty="0"/>
              <a:t> </a:t>
            </a:r>
            <a:r>
              <a:rPr lang="en-US" dirty="0" err="1"/>
              <a:t>besar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22920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46e50ac-242a-4d51-a958-3ecf06262b97}" enabled="1" method="Privileged" siteId="{9f3efc26-eea3-45e0-9a33-bdd96bbc7f6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559</Words>
  <Application>Microsoft Office PowerPoint</Application>
  <PresentationFormat>Widescreen</PresentationFormat>
  <Paragraphs>63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JetBrains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Salomo Hendrian Sudjono</dc:creator>
  <cp:lastModifiedBy>Salomo Hendrian Sudjono</cp:lastModifiedBy>
  <cp:revision>17</cp:revision>
  <dcterms:created xsi:type="dcterms:W3CDTF">2026-05-06T13:23:52Z</dcterms:created>
  <dcterms:modified xsi:type="dcterms:W3CDTF">2026-05-06T13:57:26Z</dcterms:modified>
</cp:coreProperties>
</file>